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35"/>
  </p:normalViewPr>
  <p:slideViewPr>
    <p:cSldViewPr snapToGrid="0">
      <p:cViewPr varScale="1">
        <p:scale>
          <a:sx n="100" d="100"/>
          <a:sy n="100" d="100"/>
        </p:scale>
        <p:origin x="9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KZ"/>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4DFB1-16C1-8040-A8FF-467CDFC8DEB7}" type="datetimeFigureOut">
              <a:rPr lang="ru-KZ" smtClean="0"/>
              <a:t>16.01.2024</a:t>
            </a:fld>
            <a:endParaRPr lang="ru-KZ"/>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KZ"/>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KZ"/>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3B08D-A240-8B4C-98B8-370C0D0D6B7A}" type="slidenum">
              <a:rPr lang="ru-KZ" smtClean="0"/>
              <a:t>‹#›</a:t>
            </a:fld>
            <a:endParaRPr lang="ru-KZ"/>
          </a:p>
        </p:txBody>
      </p:sp>
    </p:spTree>
    <p:extLst>
      <p:ext uri="{BB962C8B-B14F-4D97-AF65-F5344CB8AC3E}">
        <p14:creationId xmlns:p14="http://schemas.microsoft.com/office/powerpoint/2010/main" val="3568928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KZ" dirty="0"/>
          </a:p>
        </p:txBody>
      </p:sp>
      <p:sp>
        <p:nvSpPr>
          <p:cNvPr id="4" name="Номер слайда 3"/>
          <p:cNvSpPr>
            <a:spLocks noGrp="1"/>
          </p:cNvSpPr>
          <p:nvPr>
            <p:ph type="sldNum" sz="quarter" idx="5"/>
          </p:nvPr>
        </p:nvSpPr>
        <p:spPr/>
        <p:txBody>
          <a:bodyPr/>
          <a:lstStyle/>
          <a:p>
            <a:fld id="{6063B08D-A240-8B4C-98B8-370C0D0D6B7A}" type="slidenum">
              <a:rPr lang="ru-KZ" smtClean="0"/>
              <a:t>8</a:t>
            </a:fld>
            <a:endParaRPr lang="ru-KZ"/>
          </a:p>
        </p:txBody>
      </p:sp>
    </p:spTree>
    <p:extLst>
      <p:ext uri="{BB962C8B-B14F-4D97-AF65-F5344CB8AC3E}">
        <p14:creationId xmlns:p14="http://schemas.microsoft.com/office/powerpoint/2010/main" val="3631987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ru-RU"/>
              <a:t>Образец заголовка</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FE1A318-ACDA-6946-A395-3C6274639BFE}" type="datetimeFigureOut">
              <a:rPr lang="ru-KZ" smtClean="0"/>
              <a:t>16.01.2024</a:t>
            </a:fld>
            <a:endParaRPr lang="ru-KZ"/>
          </a:p>
        </p:txBody>
      </p:sp>
      <p:sp>
        <p:nvSpPr>
          <p:cNvPr id="5" name="Footer Placeholder 4"/>
          <p:cNvSpPr>
            <a:spLocks noGrp="1"/>
          </p:cNvSpPr>
          <p:nvPr>
            <p:ph type="ftr" sz="quarter" idx="11"/>
          </p:nvPr>
        </p:nvSpPr>
        <p:spPr>
          <a:xfrm>
            <a:off x="1876424" y="5410201"/>
            <a:ext cx="5124886" cy="365125"/>
          </a:xfrm>
        </p:spPr>
        <p:txBody>
          <a:bodyPr/>
          <a:lstStyle/>
          <a:p>
            <a:endParaRPr lang="ru-KZ"/>
          </a:p>
        </p:txBody>
      </p:sp>
      <p:sp>
        <p:nvSpPr>
          <p:cNvPr id="6" name="Slide Number Placeholder 5"/>
          <p:cNvSpPr>
            <a:spLocks noGrp="1"/>
          </p:cNvSpPr>
          <p:nvPr>
            <p:ph type="sldNum" sz="quarter" idx="12"/>
          </p:nvPr>
        </p:nvSpPr>
        <p:spPr>
          <a:xfrm>
            <a:off x="9896911" y="5410199"/>
            <a:ext cx="771089" cy="365125"/>
          </a:xfrm>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3004837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FE1A318-ACDA-6946-A395-3C6274639BFE}" type="datetimeFigureOut">
              <a:rPr lang="ru-KZ" smtClean="0"/>
              <a:t>16.01.2024</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207796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FE1A318-ACDA-6946-A395-3C6274639BFE}" type="datetimeFigureOut">
              <a:rPr lang="ru-KZ" smtClean="0"/>
              <a:t>16.01.2024</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238778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3739299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41410" y="3073397"/>
            <a:ext cx="4878391" cy="271780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3073397"/>
            <a:ext cx="4875210" cy="271780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3FE1A318-ACDA-6946-A395-3C6274639BFE}" type="datetimeFigureOut">
              <a:rPr lang="ru-KZ" smtClean="0"/>
              <a:t>16.01.2024</a:t>
            </a:fld>
            <a:endParaRPr lang="ru-KZ"/>
          </a:p>
        </p:txBody>
      </p:sp>
      <p:sp>
        <p:nvSpPr>
          <p:cNvPr id="8" name="Footer Placeholder 7"/>
          <p:cNvSpPr>
            <a:spLocks noGrp="1"/>
          </p:cNvSpPr>
          <p:nvPr>
            <p:ph type="ftr" sz="quarter" idx="11"/>
          </p:nvPr>
        </p:nvSpPr>
        <p:spPr/>
        <p:txBody>
          <a:bodyPr/>
          <a:lstStyle/>
          <a:p>
            <a:endParaRPr lang="ru-KZ"/>
          </a:p>
        </p:txBody>
      </p:sp>
      <p:sp>
        <p:nvSpPr>
          <p:cNvPr id="9" name="Slide Number Placeholder 8"/>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56900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3FE1A318-ACDA-6946-A395-3C6274639BFE}" type="datetimeFigureOut">
              <a:rPr lang="ru-KZ" smtClean="0"/>
              <a:t>16.01.2024</a:t>
            </a:fld>
            <a:endParaRPr lang="ru-KZ"/>
          </a:p>
        </p:txBody>
      </p:sp>
      <p:sp>
        <p:nvSpPr>
          <p:cNvPr id="4" name="Footer Placeholder 3"/>
          <p:cNvSpPr>
            <a:spLocks noGrp="1"/>
          </p:cNvSpPr>
          <p:nvPr>
            <p:ph type="ftr" sz="quarter" idx="11"/>
          </p:nvPr>
        </p:nvSpPr>
        <p:spPr/>
        <p:txBody>
          <a:bodyPr/>
          <a:lstStyle/>
          <a:p>
            <a:endParaRPr lang="ru-KZ"/>
          </a:p>
        </p:txBody>
      </p:sp>
      <p:sp>
        <p:nvSpPr>
          <p:cNvPr id="5" name="Slide Number Placeholder 4"/>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4106832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E1A318-ACDA-6946-A395-3C6274639BFE}" type="datetimeFigureOut">
              <a:rPr lang="ru-KZ" smtClean="0"/>
              <a:t>16.01.2024</a:t>
            </a:fld>
            <a:endParaRPr lang="ru-KZ"/>
          </a:p>
        </p:txBody>
      </p:sp>
      <p:sp>
        <p:nvSpPr>
          <p:cNvPr id="3" name="Footer Placeholder 2"/>
          <p:cNvSpPr>
            <a:spLocks noGrp="1"/>
          </p:cNvSpPr>
          <p:nvPr>
            <p:ph type="ftr" sz="quarter" idx="11"/>
          </p:nvPr>
        </p:nvSpPr>
        <p:spPr/>
        <p:txBody>
          <a:bodyPr/>
          <a:lstStyle/>
          <a:p>
            <a:endParaRPr lang="ru-KZ"/>
          </a:p>
        </p:txBody>
      </p:sp>
      <p:sp>
        <p:nvSpPr>
          <p:cNvPr id="4" name="Slide Number Placeholder 3"/>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388898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772219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271793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ru-RU"/>
              <a:t>Вставка рисунка</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106819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ru-RU"/>
              <a:t>Образец заголовка</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767078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17566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ru-RU"/>
              <a:t>Образец заголовка</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FE1A318-ACDA-6946-A395-3C6274639BFE}" type="datetimeFigureOut">
              <a:rPr lang="ru-KZ" smtClean="0"/>
              <a:t>16.01.2024</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3647885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ru-RU"/>
              <a:t>Образец заголовка</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3FE1A318-ACDA-6946-A395-3C6274639BFE}" type="datetimeFigureOut">
              <a:rPr lang="ru-KZ" smtClean="0"/>
              <a:t>16.01.2024</a:t>
            </a:fld>
            <a:endParaRPr lang="ru-KZ"/>
          </a:p>
        </p:txBody>
      </p:sp>
      <p:sp>
        <p:nvSpPr>
          <p:cNvPr id="4" name="Footer Placeholder 3"/>
          <p:cNvSpPr>
            <a:spLocks noGrp="1"/>
          </p:cNvSpPr>
          <p:nvPr>
            <p:ph type="ftr" sz="quarter" idx="11"/>
          </p:nvPr>
        </p:nvSpPr>
        <p:spPr/>
        <p:txBody>
          <a:bodyPr/>
          <a:lstStyle/>
          <a:p>
            <a:endParaRPr lang="ru-KZ"/>
          </a:p>
        </p:txBody>
      </p:sp>
      <p:sp>
        <p:nvSpPr>
          <p:cNvPr id="5" name="Slide Number Placeholder 4"/>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3207228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3FE1A318-ACDA-6946-A395-3C6274639BFE}" type="datetimeFigureOut">
              <a:rPr lang="ru-KZ" smtClean="0"/>
              <a:t>16.01.2024</a:t>
            </a:fld>
            <a:endParaRPr lang="ru-KZ"/>
          </a:p>
        </p:txBody>
      </p:sp>
      <p:sp>
        <p:nvSpPr>
          <p:cNvPr id="4" name="Footer Placeholder 3"/>
          <p:cNvSpPr>
            <a:spLocks noGrp="1"/>
          </p:cNvSpPr>
          <p:nvPr>
            <p:ph type="ftr" sz="quarter" idx="11"/>
          </p:nvPr>
        </p:nvSpPr>
        <p:spPr/>
        <p:txBody>
          <a:bodyPr/>
          <a:lstStyle/>
          <a:p>
            <a:endParaRPr lang="ru-KZ"/>
          </a:p>
        </p:txBody>
      </p:sp>
      <p:sp>
        <p:nvSpPr>
          <p:cNvPr id="5" name="Slide Number Placeholder 4"/>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4261154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FE1A318-ACDA-6946-A395-3C6274639BFE}" type="datetimeFigureOut">
              <a:rPr lang="ru-KZ" smtClean="0"/>
              <a:t>16.01.2024</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1795716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FE1A318-ACDA-6946-A395-3C6274639BFE}" type="datetimeFigureOut">
              <a:rPr lang="ru-KZ" smtClean="0"/>
              <a:t>16.01.2024</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54E1EB2E-5457-6D49-9930-8B0C404B2CFE}" type="slidenum">
              <a:rPr lang="ru-KZ" smtClean="0"/>
              <a:t>‹#›</a:t>
            </a:fld>
            <a:endParaRPr lang="ru-KZ"/>
          </a:p>
        </p:txBody>
      </p:sp>
    </p:spTree>
    <p:extLst>
      <p:ext uri="{BB962C8B-B14F-4D97-AF65-F5344CB8AC3E}">
        <p14:creationId xmlns:p14="http://schemas.microsoft.com/office/powerpoint/2010/main" val="180632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FE1A318-ACDA-6946-A395-3C6274639BFE}" type="datetimeFigureOut">
              <a:rPr lang="ru-KZ" smtClean="0"/>
              <a:t>16.01.2024</a:t>
            </a:fld>
            <a:endParaRPr lang="ru-KZ"/>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ru-KZ"/>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4E1EB2E-5457-6D49-9930-8B0C404B2CFE}" type="slidenum">
              <a:rPr lang="ru-KZ" smtClean="0"/>
              <a:t>‹#›</a:t>
            </a:fld>
            <a:endParaRPr lang="ru-KZ"/>
          </a:p>
        </p:txBody>
      </p:sp>
    </p:spTree>
    <p:extLst>
      <p:ext uri="{BB962C8B-B14F-4D97-AF65-F5344CB8AC3E}">
        <p14:creationId xmlns:p14="http://schemas.microsoft.com/office/powerpoint/2010/main" val="1732302815"/>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6E4BF1-2995-D00D-5859-DA6B621EB1FB}"/>
              </a:ext>
            </a:extLst>
          </p:cNvPr>
          <p:cNvSpPr>
            <a:spLocks noGrp="1"/>
          </p:cNvSpPr>
          <p:nvPr>
            <p:ph type="ctrTitle"/>
          </p:nvPr>
        </p:nvSpPr>
        <p:spPr>
          <a:xfrm>
            <a:off x="2772274" y="1655763"/>
            <a:ext cx="8791575" cy="2387600"/>
          </a:xfrm>
        </p:spPr>
        <p:txBody>
          <a:bodyPr/>
          <a:lstStyle/>
          <a:p>
            <a:r>
              <a:rPr lang="en-US" dirty="0" err="1"/>
              <a:t>Wanderwege</a:t>
            </a:r>
            <a:endParaRPr lang="ru-KZ" dirty="0"/>
          </a:p>
        </p:txBody>
      </p:sp>
      <p:sp>
        <p:nvSpPr>
          <p:cNvPr id="3" name="Подзаголовок 2">
            <a:extLst>
              <a:ext uri="{FF2B5EF4-FFF2-40B4-BE49-F238E27FC236}">
                <a16:creationId xmlns:a16="http://schemas.microsoft.com/office/drawing/2014/main" id="{2B4C67D7-FCCE-2264-D371-6DD74B5CC06D}"/>
              </a:ext>
            </a:extLst>
          </p:cNvPr>
          <p:cNvSpPr>
            <a:spLocks noGrp="1"/>
          </p:cNvSpPr>
          <p:nvPr>
            <p:ph type="subTitle" idx="1"/>
          </p:nvPr>
        </p:nvSpPr>
        <p:spPr>
          <a:xfrm>
            <a:off x="2772274" y="4356098"/>
            <a:ext cx="5357600" cy="1160213"/>
          </a:xfrm>
        </p:spPr>
        <p:txBody>
          <a:bodyPr>
            <a:normAutofit fontScale="92500" lnSpcReduction="10000"/>
          </a:bodyPr>
          <a:lstStyle/>
          <a:p>
            <a:r>
              <a:rPr lang="en-US" dirty="0"/>
              <a:t>Mobile </a:t>
            </a:r>
            <a:r>
              <a:rPr lang="en-US" dirty="0" err="1"/>
              <a:t>Betriebssysteme</a:t>
            </a:r>
            <a:r>
              <a:rPr lang="en-US" dirty="0"/>
              <a:t> und </a:t>
            </a:r>
            <a:r>
              <a:rPr lang="en-US" dirty="0" err="1"/>
              <a:t>Netzwerke</a:t>
            </a:r>
            <a:endParaRPr lang="en-US" dirty="0"/>
          </a:p>
          <a:p>
            <a:r>
              <a:rPr lang="en-US" dirty="0"/>
              <a:t>Anel </a:t>
            </a:r>
            <a:r>
              <a:rPr lang="en-US" dirty="0" err="1"/>
              <a:t>Ibragim</a:t>
            </a:r>
            <a:br>
              <a:rPr lang="en-US" dirty="0"/>
            </a:br>
            <a:r>
              <a:rPr lang="en-US" dirty="0"/>
              <a:t>WiSe23/24</a:t>
            </a:r>
          </a:p>
        </p:txBody>
      </p:sp>
    </p:spTree>
    <p:extLst>
      <p:ext uri="{BB962C8B-B14F-4D97-AF65-F5344CB8AC3E}">
        <p14:creationId xmlns:p14="http://schemas.microsoft.com/office/powerpoint/2010/main" val="111346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D42740-3F64-B115-D437-F7BD4D573061}"/>
              </a:ext>
            </a:extLst>
          </p:cNvPr>
          <p:cNvSpPr>
            <a:spLocks noGrp="1"/>
          </p:cNvSpPr>
          <p:nvPr>
            <p:ph type="title"/>
          </p:nvPr>
        </p:nvSpPr>
        <p:spPr/>
        <p:txBody>
          <a:bodyPr/>
          <a:lstStyle/>
          <a:p>
            <a:r>
              <a:rPr lang="en-US" dirty="0" err="1"/>
              <a:t>Beschreibung</a:t>
            </a:r>
            <a:endParaRPr lang="ru-KZ" dirty="0"/>
          </a:p>
        </p:txBody>
      </p:sp>
      <p:sp>
        <p:nvSpPr>
          <p:cNvPr id="3" name="Объект 2">
            <a:extLst>
              <a:ext uri="{FF2B5EF4-FFF2-40B4-BE49-F238E27FC236}">
                <a16:creationId xmlns:a16="http://schemas.microsoft.com/office/drawing/2014/main" id="{8400BEEF-6A3D-398F-A2BE-B5AF0BC73C77}"/>
              </a:ext>
            </a:extLst>
          </p:cNvPr>
          <p:cNvSpPr>
            <a:spLocks noGrp="1"/>
          </p:cNvSpPr>
          <p:nvPr>
            <p:ph idx="1"/>
          </p:nvPr>
        </p:nvSpPr>
        <p:spPr/>
        <p:txBody>
          <a:bodyPr>
            <a:normAutofit/>
          </a:bodyPr>
          <a:lstStyle/>
          <a:p>
            <a:pPr algn="l" rtl="0">
              <a:spcBef>
                <a:spcPts val="0"/>
              </a:spcBef>
              <a:spcAft>
                <a:spcPts val="0"/>
              </a:spcAft>
            </a:pPr>
            <a:r>
              <a:rPr lang="de-DE" sz="1800" b="0" i="0" u="none" strike="noStrike" dirty="0">
                <a:effectLst/>
              </a:rPr>
              <a:t>Wanderwege in verschiedenen Ländern und Städten</a:t>
            </a:r>
          </a:p>
          <a:p>
            <a:pPr algn="l" rtl="0">
              <a:spcBef>
                <a:spcPts val="0"/>
              </a:spcBef>
              <a:spcAft>
                <a:spcPts val="0"/>
              </a:spcAft>
            </a:pPr>
            <a:r>
              <a:rPr lang="de-DE" sz="1800" b="0" i="0" u="none" strike="noStrike" dirty="0">
                <a:effectLst/>
              </a:rPr>
              <a:t>Infos über Sehenswürdigkeiten und Wegbeschreibungen nachlesen.</a:t>
            </a:r>
          </a:p>
          <a:p>
            <a:pPr algn="l" rtl="0">
              <a:spcBef>
                <a:spcPts val="0"/>
              </a:spcBef>
              <a:spcAft>
                <a:spcPts val="0"/>
              </a:spcAft>
            </a:pPr>
            <a:r>
              <a:rPr lang="de-DE" sz="1800" dirty="0"/>
              <a:t>Wanderwege können </a:t>
            </a:r>
            <a:r>
              <a:rPr lang="de-DE" sz="1800" b="0" i="0" u="none" strike="noStrike" dirty="0">
                <a:effectLst/>
              </a:rPr>
              <a:t>bewertet und kommentiert werden.</a:t>
            </a:r>
            <a:endParaRPr lang="de-DE" b="0" i="0" u="none" strike="noStrike" dirty="0">
              <a:effectLst/>
            </a:endParaRPr>
          </a:p>
          <a:p>
            <a:pPr algn="l" rtl="0">
              <a:spcBef>
                <a:spcPts val="0"/>
              </a:spcBef>
              <a:spcAft>
                <a:spcPts val="0"/>
              </a:spcAft>
            </a:pPr>
            <a:r>
              <a:rPr lang="de-DE" sz="1800" b="0" i="0" u="none" strike="noStrike" dirty="0">
                <a:effectLst/>
              </a:rPr>
              <a:t>Die Auswahl von Wanderwegen erfolgt entweder über die Karte oder aus einer Liste von Wanderwegen</a:t>
            </a:r>
            <a:endParaRPr lang="de-DE" b="0" i="0" u="none" strike="noStrike" dirty="0">
              <a:effectLst/>
            </a:endParaRPr>
          </a:p>
          <a:p>
            <a:pPr marL="6160" indent="0" algn="l" rtl="0">
              <a:spcBef>
                <a:spcPts val="0"/>
              </a:spcBef>
              <a:spcAft>
                <a:spcPts val="0"/>
              </a:spcAft>
              <a:buNone/>
            </a:pPr>
            <a:endParaRPr lang="ru-KZ" dirty="0"/>
          </a:p>
        </p:txBody>
      </p:sp>
    </p:spTree>
    <p:extLst>
      <p:ext uri="{BB962C8B-B14F-4D97-AF65-F5344CB8AC3E}">
        <p14:creationId xmlns:p14="http://schemas.microsoft.com/office/powerpoint/2010/main" val="3667349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717712-7F83-B3BA-8864-08E63C773EE7}"/>
              </a:ext>
            </a:extLst>
          </p:cNvPr>
          <p:cNvSpPr>
            <a:spLocks noGrp="1"/>
          </p:cNvSpPr>
          <p:nvPr>
            <p:ph type="title"/>
          </p:nvPr>
        </p:nvSpPr>
        <p:spPr>
          <a:xfrm>
            <a:off x="1143001" y="-4348"/>
            <a:ext cx="9905998" cy="1478570"/>
          </a:xfrm>
        </p:spPr>
        <p:txBody>
          <a:bodyPr/>
          <a:lstStyle/>
          <a:p>
            <a:pPr algn="ctr"/>
            <a:r>
              <a:rPr lang="de-DE" dirty="0" err="1"/>
              <a:t>KOmponentenDiagramm</a:t>
            </a:r>
            <a:endParaRPr lang="ru-KZ" dirty="0"/>
          </a:p>
        </p:txBody>
      </p:sp>
      <p:pic>
        <p:nvPicPr>
          <p:cNvPr id="5" name="Объект 4">
            <a:extLst>
              <a:ext uri="{FF2B5EF4-FFF2-40B4-BE49-F238E27FC236}">
                <a16:creationId xmlns:a16="http://schemas.microsoft.com/office/drawing/2014/main" id="{9988F322-DBF7-C1A6-FB4B-7D3539A67A3A}"/>
              </a:ext>
            </a:extLst>
          </p:cNvPr>
          <p:cNvPicPr>
            <a:picLocks noGrp="1" noChangeAspect="1"/>
          </p:cNvPicPr>
          <p:nvPr>
            <p:ph idx="1"/>
          </p:nvPr>
        </p:nvPicPr>
        <p:blipFill>
          <a:blip r:embed="rId2"/>
          <a:stretch>
            <a:fillRect/>
          </a:stretch>
        </p:blipFill>
        <p:spPr>
          <a:xfrm>
            <a:off x="2069084" y="1093787"/>
            <a:ext cx="8053832" cy="5472874"/>
          </a:xfrm>
        </p:spPr>
      </p:pic>
    </p:spTree>
    <p:extLst>
      <p:ext uri="{BB962C8B-B14F-4D97-AF65-F5344CB8AC3E}">
        <p14:creationId xmlns:p14="http://schemas.microsoft.com/office/powerpoint/2010/main" val="2934020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D1BD28-7275-C433-B72E-12658FFB07AE}"/>
              </a:ext>
            </a:extLst>
          </p:cNvPr>
          <p:cNvSpPr>
            <a:spLocks noGrp="1"/>
          </p:cNvSpPr>
          <p:nvPr>
            <p:ph type="title"/>
          </p:nvPr>
        </p:nvSpPr>
        <p:spPr/>
        <p:txBody>
          <a:bodyPr/>
          <a:lstStyle/>
          <a:p>
            <a:r>
              <a:rPr lang="de-DE" dirty="0"/>
              <a:t>GUI</a:t>
            </a:r>
            <a:endParaRPr lang="ru-KZ" dirty="0"/>
          </a:p>
        </p:txBody>
      </p:sp>
      <p:pic>
        <p:nvPicPr>
          <p:cNvPr id="5" name="Объект 4">
            <a:extLst>
              <a:ext uri="{FF2B5EF4-FFF2-40B4-BE49-F238E27FC236}">
                <a16:creationId xmlns:a16="http://schemas.microsoft.com/office/drawing/2014/main" id="{E4375274-4243-10EC-3A6D-5EEF10BB006A}"/>
              </a:ext>
            </a:extLst>
          </p:cNvPr>
          <p:cNvPicPr>
            <a:picLocks noGrp="1" noChangeAspect="1"/>
          </p:cNvPicPr>
          <p:nvPr>
            <p:ph idx="1"/>
          </p:nvPr>
        </p:nvPicPr>
        <p:blipFill>
          <a:blip r:embed="rId2"/>
          <a:stretch>
            <a:fillRect/>
          </a:stretch>
        </p:blipFill>
        <p:spPr>
          <a:xfrm>
            <a:off x="1141413" y="1889522"/>
            <a:ext cx="3945847" cy="3078956"/>
          </a:xfrm>
        </p:spPr>
      </p:pic>
      <p:sp>
        <p:nvSpPr>
          <p:cNvPr id="6" name="Объект 7">
            <a:extLst>
              <a:ext uri="{FF2B5EF4-FFF2-40B4-BE49-F238E27FC236}">
                <a16:creationId xmlns:a16="http://schemas.microsoft.com/office/drawing/2014/main" id="{B7C600C3-33FC-4D2B-BE4C-D68B0A17176C}"/>
              </a:ext>
            </a:extLst>
          </p:cNvPr>
          <p:cNvSpPr txBox="1">
            <a:spLocks/>
          </p:cNvSpPr>
          <p:nvPr/>
        </p:nvSpPr>
        <p:spPr>
          <a:xfrm>
            <a:off x="6094412" y="1841528"/>
            <a:ext cx="5506131"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de-DE" sz="1800" b="0" i="0" u="none" strike="noStrike" dirty="0">
                <a:effectLst/>
              </a:rPr>
              <a:t>Die GUI-Komponente ist für die Darstellung der Benutzeroberfläche verantwortlich und reagiert auf die Berührungen bzw. Eingaben des Nutzers auf dem Touchscreen. Sie zeigt dem Benutzer die Wanderwege, Sehenswürdigkeiten an und ermöglicht ihm die Interaktion mit der App. </a:t>
            </a:r>
            <a:endParaRPr lang="ru-KZ" dirty="0"/>
          </a:p>
        </p:txBody>
      </p:sp>
    </p:spTree>
    <p:extLst>
      <p:ext uri="{BB962C8B-B14F-4D97-AF65-F5344CB8AC3E}">
        <p14:creationId xmlns:p14="http://schemas.microsoft.com/office/powerpoint/2010/main" val="1417641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AFB14EE-DDDB-6F98-16D5-D7CA454D2880}"/>
              </a:ext>
            </a:extLst>
          </p:cNvPr>
          <p:cNvSpPr>
            <a:spLocks noGrp="1"/>
          </p:cNvSpPr>
          <p:nvPr>
            <p:ph idx="1"/>
          </p:nvPr>
        </p:nvSpPr>
        <p:spPr>
          <a:xfrm>
            <a:off x="1141413" y="313718"/>
            <a:ext cx="9905999" cy="3541714"/>
          </a:xfrm>
        </p:spPr>
        <p:txBody>
          <a:bodyPr/>
          <a:lstStyle/>
          <a:p>
            <a:pPr marL="0" indent="0">
              <a:buNone/>
            </a:pPr>
            <a:r>
              <a:rPr lang="de-DE" sz="4000" dirty="0" err="1"/>
              <a:t>WanderwegeController</a:t>
            </a:r>
            <a:endParaRPr lang="ru-KZ" dirty="0"/>
          </a:p>
        </p:txBody>
      </p:sp>
      <p:pic>
        <p:nvPicPr>
          <p:cNvPr id="5" name="Рисунок 4">
            <a:extLst>
              <a:ext uri="{FF2B5EF4-FFF2-40B4-BE49-F238E27FC236}">
                <a16:creationId xmlns:a16="http://schemas.microsoft.com/office/drawing/2014/main" id="{B74C2847-E3D9-29C3-AD78-5BF3BEE8054D}"/>
              </a:ext>
            </a:extLst>
          </p:cNvPr>
          <p:cNvPicPr>
            <a:picLocks noChangeAspect="1"/>
          </p:cNvPicPr>
          <p:nvPr/>
        </p:nvPicPr>
        <p:blipFill>
          <a:blip r:embed="rId2"/>
          <a:stretch>
            <a:fillRect/>
          </a:stretch>
        </p:blipFill>
        <p:spPr>
          <a:xfrm>
            <a:off x="1141413" y="1277030"/>
            <a:ext cx="4897340" cy="2861583"/>
          </a:xfrm>
          <a:prstGeom prst="rect">
            <a:avLst/>
          </a:prstGeom>
        </p:spPr>
      </p:pic>
      <p:sp>
        <p:nvSpPr>
          <p:cNvPr id="16" name="Объект 7">
            <a:extLst>
              <a:ext uri="{FF2B5EF4-FFF2-40B4-BE49-F238E27FC236}">
                <a16:creationId xmlns:a16="http://schemas.microsoft.com/office/drawing/2014/main" id="{6BBCCC3F-F992-4791-28AC-8E19A371732F}"/>
              </a:ext>
            </a:extLst>
          </p:cNvPr>
          <p:cNvSpPr txBox="1">
            <a:spLocks/>
          </p:cNvSpPr>
          <p:nvPr/>
        </p:nvSpPr>
        <p:spPr>
          <a:xfrm>
            <a:off x="6094412" y="1277030"/>
            <a:ext cx="5506131"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de-DE" sz="1800" b="0" i="0" u="none" strike="noStrike" dirty="0">
                <a:effectLst/>
              </a:rPr>
              <a:t>Diese Komponente ist verantwortlich für die Entgegennahme von Eingaben des Nutzers, deren Verarbeitung und die Weiterleitung der notwendigen Befehle an das Model oder die View, um eine entsprechende Reaktion in der App hervorzurufen.</a:t>
            </a:r>
            <a:endParaRPr lang="ru-KZ" dirty="0"/>
          </a:p>
        </p:txBody>
      </p:sp>
    </p:spTree>
    <p:extLst>
      <p:ext uri="{BB962C8B-B14F-4D97-AF65-F5344CB8AC3E}">
        <p14:creationId xmlns:p14="http://schemas.microsoft.com/office/powerpoint/2010/main" val="2177320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41B044-60AD-2187-A328-829406956FBA}"/>
              </a:ext>
            </a:extLst>
          </p:cNvPr>
          <p:cNvSpPr>
            <a:spLocks noGrp="1"/>
          </p:cNvSpPr>
          <p:nvPr>
            <p:ph type="title"/>
          </p:nvPr>
        </p:nvSpPr>
        <p:spPr/>
        <p:txBody>
          <a:bodyPr/>
          <a:lstStyle/>
          <a:p>
            <a:endParaRPr lang="ru-KZ"/>
          </a:p>
        </p:txBody>
      </p:sp>
      <p:sp>
        <p:nvSpPr>
          <p:cNvPr id="3" name="Объект 2">
            <a:extLst>
              <a:ext uri="{FF2B5EF4-FFF2-40B4-BE49-F238E27FC236}">
                <a16:creationId xmlns:a16="http://schemas.microsoft.com/office/drawing/2014/main" id="{CEB25891-DEE6-2710-0DEB-ED312D60349B}"/>
              </a:ext>
            </a:extLst>
          </p:cNvPr>
          <p:cNvSpPr>
            <a:spLocks noGrp="1"/>
          </p:cNvSpPr>
          <p:nvPr>
            <p:ph idx="1"/>
          </p:nvPr>
        </p:nvSpPr>
        <p:spPr/>
        <p:txBody>
          <a:bodyPr/>
          <a:lstStyle/>
          <a:p>
            <a:endParaRPr lang="ru-KZ" dirty="0"/>
          </a:p>
        </p:txBody>
      </p:sp>
      <p:pic>
        <p:nvPicPr>
          <p:cNvPr id="5" name="Рисунок 4">
            <a:extLst>
              <a:ext uri="{FF2B5EF4-FFF2-40B4-BE49-F238E27FC236}">
                <a16:creationId xmlns:a16="http://schemas.microsoft.com/office/drawing/2014/main" id="{4BC58A3A-03FC-94A9-4644-BEBFB3F8F7A4}"/>
              </a:ext>
            </a:extLst>
          </p:cNvPr>
          <p:cNvPicPr>
            <a:picLocks noChangeAspect="1"/>
          </p:cNvPicPr>
          <p:nvPr/>
        </p:nvPicPr>
        <p:blipFill rotWithShape="1">
          <a:blip r:embed="rId2"/>
          <a:srcRect r="33415"/>
          <a:stretch/>
        </p:blipFill>
        <p:spPr>
          <a:xfrm>
            <a:off x="412751" y="224723"/>
            <a:ext cx="5175250" cy="5089890"/>
          </a:xfrm>
          <a:prstGeom prst="rect">
            <a:avLst/>
          </a:prstGeom>
        </p:spPr>
      </p:pic>
      <p:pic>
        <p:nvPicPr>
          <p:cNvPr id="4" name="Рисунок 3">
            <a:extLst>
              <a:ext uri="{FF2B5EF4-FFF2-40B4-BE49-F238E27FC236}">
                <a16:creationId xmlns:a16="http://schemas.microsoft.com/office/drawing/2014/main" id="{251CB230-982B-C888-7D41-85754697C719}"/>
              </a:ext>
            </a:extLst>
          </p:cNvPr>
          <p:cNvPicPr>
            <a:picLocks noChangeAspect="1"/>
          </p:cNvPicPr>
          <p:nvPr/>
        </p:nvPicPr>
        <p:blipFill rotWithShape="1">
          <a:blip r:embed="rId3"/>
          <a:srcRect r="7701" b="8569"/>
          <a:stretch/>
        </p:blipFill>
        <p:spPr>
          <a:xfrm>
            <a:off x="5142361" y="224723"/>
            <a:ext cx="6545036" cy="2394901"/>
          </a:xfrm>
          <a:prstGeom prst="rect">
            <a:avLst/>
          </a:prstGeom>
        </p:spPr>
      </p:pic>
    </p:spTree>
    <p:extLst>
      <p:ext uri="{BB962C8B-B14F-4D97-AF65-F5344CB8AC3E}">
        <p14:creationId xmlns:p14="http://schemas.microsoft.com/office/powerpoint/2010/main" val="2912594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9D24A7B-1A6C-811A-FE34-FFA69509BBAA}"/>
              </a:ext>
            </a:extLst>
          </p:cNvPr>
          <p:cNvSpPr>
            <a:spLocks noGrp="1"/>
          </p:cNvSpPr>
          <p:nvPr>
            <p:ph idx="1"/>
          </p:nvPr>
        </p:nvSpPr>
        <p:spPr>
          <a:xfrm>
            <a:off x="1143000" y="870630"/>
            <a:ext cx="9905999" cy="856570"/>
          </a:xfrm>
        </p:spPr>
        <p:txBody>
          <a:bodyPr>
            <a:normAutofit/>
          </a:bodyPr>
          <a:lstStyle/>
          <a:p>
            <a:pPr marL="0" indent="0">
              <a:buNone/>
            </a:pPr>
            <a:r>
              <a:rPr lang="de-DE" sz="4400" dirty="0" err="1"/>
              <a:t>WanderwegeModel</a:t>
            </a:r>
            <a:endParaRPr lang="ru-KZ" sz="4400" dirty="0"/>
          </a:p>
        </p:txBody>
      </p:sp>
      <p:pic>
        <p:nvPicPr>
          <p:cNvPr id="4" name="Объект 4">
            <a:extLst>
              <a:ext uri="{FF2B5EF4-FFF2-40B4-BE49-F238E27FC236}">
                <a16:creationId xmlns:a16="http://schemas.microsoft.com/office/drawing/2014/main" id="{F6AD57BD-1850-A44F-FA92-557840D98EB8}"/>
              </a:ext>
            </a:extLst>
          </p:cNvPr>
          <p:cNvPicPr>
            <a:picLocks noChangeAspect="1"/>
          </p:cNvPicPr>
          <p:nvPr/>
        </p:nvPicPr>
        <p:blipFill>
          <a:blip r:embed="rId2"/>
          <a:stretch>
            <a:fillRect/>
          </a:stretch>
        </p:blipFill>
        <p:spPr>
          <a:xfrm>
            <a:off x="1266600" y="2027351"/>
            <a:ext cx="4335916" cy="3540478"/>
          </a:xfrm>
          <a:prstGeom prst="rect">
            <a:avLst/>
          </a:prstGeom>
        </p:spPr>
      </p:pic>
      <p:sp>
        <p:nvSpPr>
          <p:cNvPr id="5" name="Объект 7">
            <a:extLst>
              <a:ext uri="{FF2B5EF4-FFF2-40B4-BE49-F238E27FC236}">
                <a16:creationId xmlns:a16="http://schemas.microsoft.com/office/drawing/2014/main" id="{23875FFE-D7E5-1411-64A8-08503C02DB0D}"/>
              </a:ext>
            </a:extLst>
          </p:cNvPr>
          <p:cNvSpPr txBox="1">
            <a:spLocks/>
          </p:cNvSpPr>
          <p:nvPr/>
        </p:nvSpPr>
        <p:spPr>
          <a:xfrm>
            <a:off x="6095999" y="2026115"/>
            <a:ext cx="5506131"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de-DE" sz="1800" b="0" i="0" u="none" strike="noStrike" dirty="0">
                <a:effectLst/>
              </a:rPr>
              <a:t>Sie speichert und ruft Wanderweginformationen, Sehenswürdigkeiten, Kommentare, Bewertungen und relevante Daten (wie z.B. Start- und Endpunkte, Distanz, Zeit, durchschnittliche Bewertung, IDs) für diese Entitäten ab. </a:t>
            </a:r>
            <a:endParaRPr lang="ru-KZ" dirty="0"/>
          </a:p>
        </p:txBody>
      </p:sp>
    </p:spTree>
    <p:extLst>
      <p:ext uri="{BB962C8B-B14F-4D97-AF65-F5344CB8AC3E}">
        <p14:creationId xmlns:p14="http://schemas.microsoft.com/office/powerpoint/2010/main" val="351881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бъект 2">
            <a:extLst>
              <a:ext uri="{FF2B5EF4-FFF2-40B4-BE49-F238E27FC236}">
                <a16:creationId xmlns:a16="http://schemas.microsoft.com/office/drawing/2014/main" id="{1889C915-1B89-69B2-92E3-61F62FEC77DC}"/>
              </a:ext>
            </a:extLst>
          </p:cNvPr>
          <p:cNvSpPr txBox="1">
            <a:spLocks/>
          </p:cNvSpPr>
          <p:nvPr/>
        </p:nvSpPr>
        <p:spPr>
          <a:xfrm>
            <a:off x="1143000" y="0"/>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WanderwegeModel</a:t>
            </a:r>
            <a:endParaRPr lang="ru-KZ" sz="4400" dirty="0"/>
          </a:p>
        </p:txBody>
      </p:sp>
      <p:pic>
        <p:nvPicPr>
          <p:cNvPr id="15" name="Объект 14">
            <a:extLst>
              <a:ext uri="{FF2B5EF4-FFF2-40B4-BE49-F238E27FC236}">
                <a16:creationId xmlns:a16="http://schemas.microsoft.com/office/drawing/2014/main" id="{6BACF178-26F3-5E1C-6FA6-F48075733274}"/>
              </a:ext>
            </a:extLst>
          </p:cNvPr>
          <p:cNvPicPr>
            <a:picLocks noGrp="1" noChangeAspect="1"/>
          </p:cNvPicPr>
          <p:nvPr>
            <p:ph idx="1"/>
          </p:nvPr>
        </p:nvPicPr>
        <p:blipFill>
          <a:blip r:embed="rId3"/>
          <a:stretch>
            <a:fillRect/>
          </a:stretch>
        </p:blipFill>
        <p:spPr>
          <a:xfrm>
            <a:off x="0" y="892201"/>
            <a:ext cx="7696200" cy="2019300"/>
          </a:xfrm>
        </p:spPr>
      </p:pic>
      <p:pic>
        <p:nvPicPr>
          <p:cNvPr id="17" name="Рисунок 16">
            <a:extLst>
              <a:ext uri="{FF2B5EF4-FFF2-40B4-BE49-F238E27FC236}">
                <a16:creationId xmlns:a16="http://schemas.microsoft.com/office/drawing/2014/main" id="{FC150545-89AF-3788-CE20-505EA21DBDF9}"/>
              </a:ext>
            </a:extLst>
          </p:cNvPr>
          <p:cNvPicPr>
            <a:picLocks noChangeAspect="1"/>
          </p:cNvPicPr>
          <p:nvPr/>
        </p:nvPicPr>
        <p:blipFill>
          <a:blip r:embed="rId4"/>
          <a:stretch>
            <a:fillRect/>
          </a:stretch>
        </p:blipFill>
        <p:spPr>
          <a:xfrm>
            <a:off x="0" y="2662304"/>
            <a:ext cx="6400800" cy="1587500"/>
          </a:xfrm>
          <a:prstGeom prst="rect">
            <a:avLst/>
          </a:prstGeom>
        </p:spPr>
      </p:pic>
      <p:pic>
        <p:nvPicPr>
          <p:cNvPr id="19" name="Рисунок 18">
            <a:extLst>
              <a:ext uri="{FF2B5EF4-FFF2-40B4-BE49-F238E27FC236}">
                <a16:creationId xmlns:a16="http://schemas.microsoft.com/office/drawing/2014/main" id="{6CE66794-A522-08C0-3F1A-DBCC61D6B34E}"/>
              </a:ext>
            </a:extLst>
          </p:cNvPr>
          <p:cNvPicPr>
            <a:picLocks noChangeAspect="1"/>
          </p:cNvPicPr>
          <p:nvPr/>
        </p:nvPicPr>
        <p:blipFill>
          <a:blip r:embed="rId5"/>
          <a:stretch>
            <a:fillRect/>
          </a:stretch>
        </p:blipFill>
        <p:spPr>
          <a:xfrm>
            <a:off x="-6690" y="4072845"/>
            <a:ext cx="7772400" cy="2098670"/>
          </a:xfrm>
          <a:prstGeom prst="rect">
            <a:avLst/>
          </a:prstGeom>
        </p:spPr>
      </p:pic>
      <p:pic>
        <p:nvPicPr>
          <p:cNvPr id="21" name="Рисунок 20">
            <a:extLst>
              <a:ext uri="{FF2B5EF4-FFF2-40B4-BE49-F238E27FC236}">
                <a16:creationId xmlns:a16="http://schemas.microsoft.com/office/drawing/2014/main" id="{1CC49D43-AB83-AB9C-75AF-57B1FCEE59E0}"/>
              </a:ext>
            </a:extLst>
          </p:cNvPr>
          <p:cNvPicPr>
            <a:picLocks noChangeAspect="1"/>
          </p:cNvPicPr>
          <p:nvPr/>
        </p:nvPicPr>
        <p:blipFill>
          <a:blip r:embed="rId6"/>
          <a:stretch>
            <a:fillRect/>
          </a:stretch>
        </p:blipFill>
        <p:spPr>
          <a:xfrm>
            <a:off x="6095998" y="-14451"/>
            <a:ext cx="5500915" cy="3803703"/>
          </a:xfrm>
          <a:prstGeom prst="rect">
            <a:avLst/>
          </a:prstGeom>
        </p:spPr>
      </p:pic>
      <p:pic>
        <p:nvPicPr>
          <p:cNvPr id="23" name="Рисунок 22">
            <a:extLst>
              <a:ext uri="{FF2B5EF4-FFF2-40B4-BE49-F238E27FC236}">
                <a16:creationId xmlns:a16="http://schemas.microsoft.com/office/drawing/2014/main" id="{C7BD3A56-E970-0D30-A337-60FCD52FC336}"/>
              </a:ext>
            </a:extLst>
          </p:cNvPr>
          <p:cNvPicPr>
            <a:picLocks noChangeAspect="1"/>
          </p:cNvPicPr>
          <p:nvPr/>
        </p:nvPicPr>
        <p:blipFill>
          <a:blip r:embed="rId7"/>
          <a:stretch>
            <a:fillRect/>
          </a:stretch>
        </p:blipFill>
        <p:spPr>
          <a:xfrm>
            <a:off x="7512278" y="3510790"/>
            <a:ext cx="4679722" cy="2455009"/>
          </a:xfrm>
          <a:prstGeom prst="rect">
            <a:avLst/>
          </a:prstGeom>
        </p:spPr>
      </p:pic>
    </p:spTree>
    <p:extLst>
      <p:ext uri="{BB962C8B-B14F-4D97-AF65-F5344CB8AC3E}">
        <p14:creationId xmlns:p14="http://schemas.microsoft.com/office/powerpoint/2010/main" val="163412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2">
            <a:extLst>
              <a:ext uri="{FF2B5EF4-FFF2-40B4-BE49-F238E27FC236}">
                <a16:creationId xmlns:a16="http://schemas.microsoft.com/office/drawing/2014/main" id="{D431F41B-F69B-1FF4-A466-EBF0B9DA7D6E}"/>
              </a:ext>
            </a:extLst>
          </p:cNvPr>
          <p:cNvSpPr txBox="1">
            <a:spLocks/>
          </p:cNvSpPr>
          <p:nvPr/>
        </p:nvSpPr>
        <p:spPr>
          <a:xfrm>
            <a:off x="1143000" y="0"/>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WanderwegeSpeicher</a:t>
            </a:r>
            <a:endParaRPr lang="ru-KZ" sz="4400" dirty="0"/>
          </a:p>
        </p:txBody>
      </p:sp>
      <p:pic>
        <p:nvPicPr>
          <p:cNvPr id="6" name="Рисунок 5">
            <a:extLst>
              <a:ext uri="{FF2B5EF4-FFF2-40B4-BE49-F238E27FC236}">
                <a16:creationId xmlns:a16="http://schemas.microsoft.com/office/drawing/2014/main" id="{715B93C7-AE73-A1A6-2EF1-A00632C01996}"/>
              </a:ext>
            </a:extLst>
          </p:cNvPr>
          <p:cNvPicPr>
            <a:picLocks noChangeAspect="1"/>
          </p:cNvPicPr>
          <p:nvPr/>
        </p:nvPicPr>
        <p:blipFill>
          <a:blip r:embed="rId2"/>
          <a:stretch>
            <a:fillRect/>
          </a:stretch>
        </p:blipFill>
        <p:spPr>
          <a:xfrm>
            <a:off x="1143000" y="1020536"/>
            <a:ext cx="4191907" cy="4399280"/>
          </a:xfrm>
          <a:prstGeom prst="rect">
            <a:avLst/>
          </a:prstGeom>
        </p:spPr>
      </p:pic>
      <p:sp>
        <p:nvSpPr>
          <p:cNvPr id="7" name="Заголовок 6">
            <a:extLst>
              <a:ext uri="{FF2B5EF4-FFF2-40B4-BE49-F238E27FC236}">
                <a16:creationId xmlns:a16="http://schemas.microsoft.com/office/drawing/2014/main" id="{AB3BE3AC-5A7F-CB0F-E0BC-AAAD4E5BDCA5}"/>
              </a:ext>
            </a:extLst>
          </p:cNvPr>
          <p:cNvSpPr>
            <a:spLocks noGrp="1"/>
          </p:cNvSpPr>
          <p:nvPr>
            <p:ph type="title"/>
          </p:nvPr>
        </p:nvSpPr>
        <p:spPr/>
        <p:txBody>
          <a:bodyPr/>
          <a:lstStyle/>
          <a:p>
            <a:endParaRPr lang="ru-KZ"/>
          </a:p>
        </p:txBody>
      </p:sp>
      <p:sp>
        <p:nvSpPr>
          <p:cNvPr id="8" name="Объект 7">
            <a:extLst>
              <a:ext uri="{FF2B5EF4-FFF2-40B4-BE49-F238E27FC236}">
                <a16:creationId xmlns:a16="http://schemas.microsoft.com/office/drawing/2014/main" id="{2E7F3CE5-19BA-DE97-0D8A-9EBBA3D3DF94}"/>
              </a:ext>
            </a:extLst>
          </p:cNvPr>
          <p:cNvSpPr>
            <a:spLocks noGrp="1"/>
          </p:cNvSpPr>
          <p:nvPr>
            <p:ph idx="1"/>
          </p:nvPr>
        </p:nvSpPr>
        <p:spPr>
          <a:xfrm>
            <a:off x="5438093" y="2990056"/>
            <a:ext cx="5506131" cy="3541714"/>
          </a:xfrm>
        </p:spPr>
        <p:txBody>
          <a:bodyPr/>
          <a:lstStyle/>
          <a:p>
            <a:r>
              <a:rPr lang="de-DE" dirty="0"/>
              <a:t>Die Interfaces hier bestehen nur aus </a:t>
            </a:r>
            <a:r>
              <a:rPr lang="de-DE" dirty="0" err="1"/>
              <a:t>Queries</a:t>
            </a:r>
            <a:r>
              <a:rPr lang="de-DE" dirty="0"/>
              <a:t> und </a:t>
            </a:r>
            <a:r>
              <a:rPr lang="de-DE" dirty="0" err="1"/>
              <a:t>insert</a:t>
            </a:r>
            <a:r>
              <a:rPr lang="de-DE" dirty="0"/>
              <a:t>-Methoden</a:t>
            </a:r>
            <a:endParaRPr lang="ru-KZ" dirty="0"/>
          </a:p>
        </p:txBody>
      </p:sp>
    </p:spTree>
    <p:extLst>
      <p:ext uri="{BB962C8B-B14F-4D97-AF65-F5344CB8AC3E}">
        <p14:creationId xmlns:p14="http://schemas.microsoft.com/office/powerpoint/2010/main" val="1385281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2">
            <a:extLst>
              <a:ext uri="{FF2B5EF4-FFF2-40B4-BE49-F238E27FC236}">
                <a16:creationId xmlns:a16="http://schemas.microsoft.com/office/drawing/2014/main" id="{E6193F93-2763-189C-331A-9B5548717FF7}"/>
              </a:ext>
            </a:extLst>
          </p:cNvPr>
          <p:cNvSpPr txBox="1">
            <a:spLocks/>
          </p:cNvSpPr>
          <p:nvPr/>
        </p:nvSpPr>
        <p:spPr>
          <a:xfrm>
            <a:off x="1143000" y="261257"/>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MapHandler</a:t>
            </a:r>
            <a:endParaRPr lang="ru-KZ" sz="4400" dirty="0"/>
          </a:p>
        </p:txBody>
      </p:sp>
      <p:pic>
        <p:nvPicPr>
          <p:cNvPr id="4" name="Рисунок 3">
            <a:extLst>
              <a:ext uri="{FF2B5EF4-FFF2-40B4-BE49-F238E27FC236}">
                <a16:creationId xmlns:a16="http://schemas.microsoft.com/office/drawing/2014/main" id="{3F290BE5-CAD9-784F-9CA2-289AE5CE547D}"/>
              </a:ext>
            </a:extLst>
          </p:cNvPr>
          <p:cNvPicPr>
            <a:picLocks noChangeAspect="1"/>
          </p:cNvPicPr>
          <p:nvPr/>
        </p:nvPicPr>
        <p:blipFill>
          <a:blip r:embed="rId2"/>
          <a:stretch>
            <a:fillRect/>
          </a:stretch>
        </p:blipFill>
        <p:spPr>
          <a:xfrm>
            <a:off x="1143000" y="1477734"/>
            <a:ext cx="3703361" cy="1221921"/>
          </a:xfrm>
          <a:prstGeom prst="rect">
            <a:avLst/>
          </a:prstGeom>
        </p:spPr>
      </p:pic>
      <p:pic>
        <p:nvPicPr>
          <p:cNvPr id="6" name="Рисунок 5">
            <a:extLst>
              <a:ext uri="{FF2B5EF4-FFF2-40B4-BE49-F238E27FC236}">
                <a16:creationId xmlns:a16="http://schemas.microsoft.com/office/drawing/2014/main" id="{C2711476-3AEE-E09B-CA68-F8B3FB9E46C9}"/>
              </a:ext>
            </a:extLst>
          </p:cNvPr>
          <p:cNvPicPr>
            <a:picLocks noChangeAspect="1"/>
          </p:cNvPicPr>
          <p:nvPr/>
        </p:nvPicPr>
        <p:blipFill>
          <a:blip r:embed="rId3"/>
          <a:stretch>
            <a:fillRect/>
          </a:stretch>
        </p:blipFill>
        <p:spPr>
          <a:xfrm>
            <a:off x="1143000" y="2880547"/>
            <a:ext cx="7772400" cy="2555598"/>
          </a:xfrm>
          <a:prstGeom prst="rect">
            <a:avLst/>
          </a:prstGeom>
        </p:spPr>
      </p:pic>
    </p:spTree>
    <p:extLst>
      <p:ext uri="{BB962C8B-B14F-4D97-AF65-F5344CB8AC3E}">
        <p14:creationId xmlns:p14="http://schemas.microsoft.com/office/powerpoint/2010/main" val="4251596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2">
            <a:extLst>
              <a:ext uri="{FF2B5EF4-FFF2-40B4-BE49-F238E27FC236}">
                <a16:creationId xmlns:a16="http://schemas.microsoft.com/office/drawing/2014/main" id="{9F0FB214-7AD2-16B1-EF47-7635CE07B3E5}"/>
              </a:ext>
            </a:extLst>
          </p:cNvPr>
          <p:cNvSpPr txBox="1">
            <a:spLocks/>
          </p:cNvSpPr>
          <p:nvPr/>
        </p:nvSpPr>
        <p:spPr>
          <a:xfrm>
            <a:off x="1143000" y="322492"/>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Testsverfahren</a:t>
            </a:r>
            <a:endParaRPr lang="ru-KZ" sz="4400" dirty="0"/>
          </a:p>
        </p:txBody>
      </p:sp>
      <p:sp>
        <p:nvSpPr>
          <p:cNvPr id="4" name="TextBox 3">
            <a:extLst>
              <a:ext uri="{FF2B5EF4-FFF2-40B4-BE49-F238E27FC236}">
                <a16:creationId xmlns:a16="http://schemas.microsoft.com/office/drawing/2014/main" id="{9D7AE9C8-E2A5-2C7E-A10D-159D21329C0E}"/>
              </a:ext>
            </a:extLst>
          </p:cNvPr>
          <p:cNvSpPr txBox="1"/>
          <p:nvPr/>
        </p:nvSpPr>
        <p:spPr>
          <a:xfrm>
            <a:off x="1143000" y="1179062"/>
            <a:ext cx="8617856" cy="6370975"/>
          </a:xfrm>
          <a:prstGeom prst="rect">
            <a:avLst/>
          </a:prstGeom>
          <a:noFill/>
        </p:spPr>
        <p:txBody>
          <a:bodyPr wrap="square">
            <a:spAutoFit/>
          </a:bodyPr>
          <a:lstStyle/>
          <a:p>
            <a:pPr marL="342900" indent="-342900">
              <a:buFont typeface="Arial" panose="020B0604020202020204" pitchFamily="34" charset="0"/>
              <a:buChar char="•"/>
            </a:pPr>
            <a:r>
              <a:rPr lang="de-DE" sz="2400" b="0" i="0" u="none" strike="noStrike" dirty="0" err="1">
                <a:effectLst/>
              </a:rPr>
              <a:t>MapHandler</a:t>
            </a:r>
            <a:r>
              <a:rPr lang="de-DE" sz="2400" b="0" i="0" u="none" strike="noStrike" dirty="0">
                <a:effectLst/>
              </a:rPr>
              <a:t> </a:t>
            </a:r>
          </a:p>
          <a:p>
            <a:pPr marL="800100" lvl="1" indent="-342900">
              <a:buFont typeface="Arial" panose="020B0604020202020204" pitchFamily="34" charset="0"/>
              <a:buChar char="•"/>
            </a:pPr>
            <a:r>
              <a:rPr lang="de-DE" sz="2400" dirty="0"/>
              <a:t>enorm großer Aufwand, der nicht notwendig ist, insbesondere bei sehr einfachen Interaktionen mit der Karte</a:t>
            </a:r>
          </a:p>
          <a:p>
            <a:pPr marL="800100" lvl="1" indent="-342900">
              <a:buFont typeface="Arial" panose="020B0604020202020204" pitchFamily="34" charset="0"/>
              <a:buChar char="•"/>
            </a:pPr>
            <a:r>
              <a:rPr lang="de-DE" sz="2400" b="0" i="0" u="none" strike="noStrike" dirty="0">
                <a:effectLst/>
              </a:rPr>
              <a:t>Es wird auch davon ausgegangen, dass die </a:t>
            </a:r>
            <a:r>
              <a:rPr lang="de-DE" sz="2400" b="0" i="0" u="none" strike="noStrike" dirty="0" err="1">
                <a:effectLst/>
              </a:rPr>
              <a:t>osmdroid</a:t>
            </a:r>
            <a:r>
              <a:rPr lang="de-DE" sz="2400" b="0" i="0" u="none" strike="noStrike" dirty="0">
                <a:effectLst/>
              </a:rPr>
              <a:t>-Bibliothek stabil funktioniert und von den Herstellern schon getestet wurde. </a:t>
            </a:r>
          </a:p>
          <a:p>
            <a:pPr marL="342900" indent="-342900">
              <a:buFont typeface="Arial" panose="020B0604020202020204" pitchFamily="34" charset="0"/>
              <a:buChar char="•"/>
            </a:pPr>
            <a:r>
              <a:rPr lang="de-DE" sz="2400" dirty="0" err="1"/>
              <a:t>WanderwegeSpeicher</a:t>
            </a:r>
            <a:endParaRPr lang="de-DE" sz="2400" dirty="0"/>
          </a:p>
          <a:p>
            <a:pPr marL="800100" lvl="1" indent="-342900">
              <a:buFont typeface="Arial" panose="020B0604020202020204" pitchFamily="34" charset="0"/>
              <a:buChar char="•"/>
            </a:pPr>
            <a:r>
              <a:rPr lang="de-DE" sz="2400" b="0" i="0" u="none" strike="noStrike" dirty="0">
                <a:effectLst/>
              </a:rPr>
              <a:t>Enorm großer Aufwand, die</a:t>
            </a:r>
            <a:r>
              <a:rPr lang="de-DE" sz="2400" dirty="0"/>
              <a:t>se Datenbank-Technologie zu testen</a:t>
            </a:r>
          </a:p>
          <a:p>
            <a:pPr marL="800100" lvl="1" indent="-342900">
              <a:buFont typeface="Arial" panose="020B0604020202020204" pitchFamily="34" charset="0"/>
              <a:buChar char="•"/>
            </a:pPr>
            <a:r>
              <a:rPr lang="de-DE" sz="2400" b="0" i="0" u="none" strike="noStrike" dirty="0">
                <a:effectLst/>
              </a:rPr>
              <a:t>Es wird davon ausgegangen, dass die </a:t>
            </a:r>
            <a:r>
              <a:rPr lang="de-DE" sz="2400" b="0" i="0" u="none" strike="noStrike" dirty="0" err="1">
                <a:effectLst/>
              </a:rPr>
              <a:t>androidx.room</a:t>
            </a:r>
            <a:r>
              <a:rPr lang="de-DE" sz="2400" b="0" i="0" u="none" strike="noStrike" dirty="0">
                <a:effectLst/>
              </a:rPr>
              <a:t>-Datenbank stabil funktioniert und die </a:t>
            </a:r>
            <a:r>
              <a:rPr lang="de-DE" sz="2400" b="0" i="0" u="none" strike="noStrike" dirty="0" err="1">
                <a:effectLst/>
              </a:rPr>
              <a:t>getter</a:t>
            </a:r>
            <a:r>
              <a:rPr lang="de-DE" sz="2400" b="0" i="0" u="none" strike="noStrike" dirty="0">
                <a:effectLst/>
              </a:rPr>
              <a:t>, </a:t>
            </a:r>
            <a:r>
              <a:rPr lang="de-DE" sz="2400" b="0" i="0" u="none" strike="noStrike" dirty="0" err="1">
                <a:effectLst/>
              </a:rPr>
              <a:t>setter</a:t>
            </a:r>
            <a:r>
              <a:rPr lang="de-DE" sz="2400" b="0" i="0" u="none" strike="noStrike" dirty="0">
                <a:effectLst/>
              </a:rPr>
              <a:t>-Methoden in den Entitäten-Klassen, auch </a:t>
            </a:r>
            <a:r>
              <a:rPr lang="de-DE" sz="2400" b="0" i="0" u="none" strike="noStrike" dirty="0" err="1">
                <a:effectLst/>
              </a:rPr>
              <a:t>Queries</a:t>
            </a:r>
            <a:r>
              <a:rPr lang="de-DE" sz="2400" b="0" i="0" u="none" strike="noStrike" dirty="0">
                <a:effectLst/>
              </a:rPr>
              <a:t> und Insert-Methoden in Interfaces und die abstrakte </a:t>
            </a:r>
            <a:r>
              <a:rPr lang="de-DE" sz="2400" b="0" i="0" u="none" strike="noStrike" dirty="0" err="1">
                <a:effectLst/>
              </a:rPr>
              <a:t>AppDataBase</a:t>
            </a:r>
            <a:r>
              <a:rPr lang="de-DE" sz="2400" b="0" i="0" u="none" strike="noStrike" dirty="0">
                <a:effectLst/>
              </a:rPr>
              <a:t>-Klasse von den Herstellern schon getestet wurden.</a:t>
            </a:r>
          </a:p>
          <a:p>
            <a:br>
              <a:rPr lang="de-DE" sz="2400" dirty="0"/>
            </a:br>
            <a:br>
              <a:rPr lang="de-DE" sz="2400" dirty="0"/>
            </a:br>
            <a:endParaRPr lang="de-DE" sz="2400" b="0" i="0" u="none" strike="noStrike" dirty="0">
              <a:effectLst/>
            </a:endParaRPr>
          </a:p>
        </p:txBody>
      </p:sp>
    </p:spTree>
    <p:extLst>
      <p:ext uri="{BB962C8B-B14F-4D97-AF65-F5344CB8AC3E}">
        <p14:creationId xmlns:p14="http://schemas.microsoft.com/office/powerpoint/2010/main" val="1703827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2">
            <a:extLst>
              <a:ext uri="{FF2B5EF4-FFF2-40B4-BE49-F238E27FC236}">
                <a16:creationId xmlns:a16="http://schemas.microsoft.com/office/drawing/2014/main" id="{09CC25E3-72CB-F221-418D-16E38A502C59}"/>
              </a:ext>
            </a:extLst>
          </p:cNvPr>
          <p:cNvSpPr txBox="1">
            <a:spLocks/>
          </p:cNvSpPr>
          <p:nvPr/>
        </p:nvSpPr>
        <p:spPr>
          <a:xfrm>
            <a:off x="1143000" y="322492"/>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Testsverfahren</a:t>
            </a:r>
            <a:endParaRPr lang="ru-KZ" sz="4400" dirty="0"/>
          </a:p>
        </p:txBody>
      </p:sp>
      <p:sp>
        <p:nvSpPr>
          <p:cNvPr id="3" name="TextBox 2">
            <a:extLst>
              <a:ext uri="{FF2B5EF4-FFF2-40B4-BE49-F238E27FC236}">
                <a16:creationId xmlns:a16="http://schemas.microsoft.com/office/drawing/2014/main" id="{7E76C3F3-B578-24A0-11AB-372940E184D7}"/>
              </a:ext>
            </a:extLst>
          </p:cNvPr>
          <p:cNvSpPr txBox="1"/>
          <p:nvPr/>
        </p:nvSpPr>
        <p:spPr>
          <a:xfrm>
            <a:off x="1143000" y="1179062"/>
            <a:ext cx="8617856" cy="2554545"/>
          </a:xfrm>
          <a:prstGeom prst="rect">
            <a:avLst/>
          </a:prstGeom>
          <a:noFill/>
        </p:spPr>
        <p:txBody>
          <a:bodyPr wrap="square">
            <a:spAutoFit/>
          </a:bodyPr>
          <a:lstStyle/>
          <a:p>
            <a:r>
              <a:rPr lang="de-DE" sz="2800" b="0" i="0" u="none" strike="noStrike" dirty="0">
                <a:effectLst/>
              </a:rPr>
              <a:t>GUI </a:t>
            </a:r>
          </a:p>
          <a:p>
            <a:pPr marL="800100" lvl="1" indent="-342900">
              <a:buFont typeface="Arial" panose="020B0604020202020204" pitchFamily="34" charset="0"/>
              <a:buChar char="•"/>
            </a:pPr>
            <a:r>
              <a:rPr lang="de-DE" sz="2800" dirty="0"/>
              <a:t>Espresso Tests (auch mit Espresso Test Recorder) von jeder </a:t>
            </a:r>
            <a:r>
              <a:rPr lang="de-DE" sz="2800" dirty="0" err="1"/>
              <a:t>Activity</a:t>
            </a:r>
            <a:r>
              <a:rPr lang="de-DE" sz="2800" dirty="0"/>
              <a:t>, einige automatisiert, einige wurden manuell geschrieben, teilweise auch mit </a:t>
            </a:r>
            <a:r>
              <a:rPr lang="de-DE" sz="2800" dirty="0" err="1"/>
              <a:t>Mocking</a:t>
            </a:r>
            <a:r>
              <a:rPr lang="de-DE" sz="2800" dirty="0"/>
              <a:t> </a:t>
            </a:r>
            <a:br>
              <a:rPr lang="de-DE" sz="2400" dirty="0"/>
            </a:br>
            <a:br>
              <a:rPr lang="de-DE" sz="2400" dirty="0"/>
            </a:br>
            <a:endParaRPr lang="de-DE" sz="2400" b="0" i="0" u="none" strike="noStrike" dirty="0">
              <a:effectLst/>
            </a:endParaRPr>
          </a:p>
        </p:txBody>
      </p:sp>
      <p:pic>
        <p:nvPicPr>
          <p:cNvPr id="5" name="Рисунок 4">
            <a:extLst>
              <a:ext uri="{FF2B5EF4-FFF2-40B4-BE49-F238E27FC236}">
                <a16:creationId xmlns:a16="http://schemas.microsoft.com/office/drawing/2014/main" id="{9FB39C33-9E95-DF1A-84BE-64622373E867}"/>
              </a:ext>
            </a:extLst>
          </p:cNvPr>
          <p:cNvPicPr>
            <a:picLocks noChangeAspect="1"/>
          </p:cNvPicPr>
          <p:nvPr/>
        </p:nvPicPr>
        <p:blipFill>
          <a:blip r:embed="rId2"/>
          <a:stretch>
            <a:fillRect/>
          </a:stretch>
        </p:blipFill>
        <p:spPr>
          <a:xfrm>
            <a:off x="2033815" y="3193177"/>
            <a:ext cx="5511800" cy="2794000"/>
          </a:xfrm>
          <a:prstGeom prst="rect">
            <a:avLst/>
          </a:prstGeom>
        </p:spPr>
      </p:pic>
    </p:spTree>
    <p:extLst>
      <p:ext uri="{BB962C8B-B14F-4D97-AF65-F5344CB8AC3E}">
        <p14:creationId xmlns:p14="http://schemas.microsoft.com/office/powerpoint/2010/main" val="686470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2">
            <a:extLst>
              <a:ext uri="{FF2B5EF4-FFF2-40B4-BE49-F238E27FC236}">
                <a16:creationId xmlns:a16="http://schemas.microsoft.com/office/drawing/2014/main" id="{22C26398-2E0B-7A5F-5DA8-4FACE436D196}"/>
              </a:ext>
            </a:extLst>
          </p:cNvPr>
          <p:cNvSpPr txBox="1">
            <a:spLocks/>
          </p:cNvSpPr>
          <p:nvPr/>
        </p:nvSpPr>
        <p:spPr>
          <a:xfrm>
            <a:off x="1143000" y="322492"/>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Testsverfahren</a:t>
            </a:r>
            <a:endParaRPr lang="ru-KZ" sz="4400" dirty="0"/>
          </a:p>
        </p:txBody>
      </p:sp>
      <p:sp>
        <p:nvSpPr>
          <p:cNvPr id="3" name="TextBox 2">
            <a:extLst>
              <a:ext uri="{FF2B5EF4-FFF2-40B4-BE49-F238E27FC236}">
                <a16:creationId xmlns:a16="http://schemas.microsoft.com/office/drawing/2014/main" id="{03820BC2-A284-A292-9BED-1A82FA1F3F5A}"/>
              </a:ext>
            </a:extLst>
          </p:cNvPr>
          <p:cNvSpPr txBox="1"/>
          <p:nvPr/>
        </p:nvSpPr>
        <p:spPr>
          <a:xfrm>
            <a:off x="1143000" y="1179062"/>
            <a:ext cx="8617856" cy="2000548"/>
          </a:xfrm>
          <a:prstGeom prst="rect">
            <a:avLst/>
          </a:prstGeom>
          <a:noFill/>
        </p:spPr>
        <p:txBody>
          <a:bodyPr wrap="square">
            <a:spAutoFit/>
          </a:bodyPr>
          <a:lstStyle/>
          <a:p>
            <a:r>
              <a:rPr lang="de-DE" sz="2800" dirty="0" err="1"/>
              <a:t>WanderwegController</a:t>
            </a:r>
            <a:r>
              <a:rPr lang="de-DE" sz="2800" b="0" i="0" u="none" strike="noStrike" dirty="0">
                <a:effectLst/>
              </a:rPr>
              <a:t> </a:t>
            </a:r>
          </a:p>
          <a:p>
            <a:pPr marL="800100" lvl="1" indent="-342900">
              <a:buFont typeface="Arial" panose="020B0604020202020204" pitchFamily="34" charset="0"/>
              <a:buChar char="•"/>
            </a:pPr>
            <a:r>
              <a:rPr lang="de-DE" sz="2400" b="0" i="0" u="none" strike="noStrike" dirty="0">
                <a:effectLst/>
              </a:rPr>
              <a:t>Für den meisten Testfällen werden </a:t>
            </a:r>
            <a:r>
              <a:rPr lang="de-DE" sz="2400" b="0" i="0" u="none" strike="noStrike" dirty="0" err="1">
                <a:effectLst/>
              </a:rPr>
              <a:t>AppDataBase</a:t>
            </a:r>
            <a:r>
              <a:rPr lang="de-DE" sz="2400" b="0" i="0" u="none" strike="noStrike" dirty="0">
                <a:effectLst/>
              </a:rPr>
              <a:t> und verschiedene Controller-Klassen </a:t>
            </a:r>
            <a:r>
              <a:rPr lang="de-DE" sz="2400" b="0" i="0" u="none" strike="noStrike" dirty="0" err="1">
                <a:effectLst/>
              </a:rPr>
              <a:t>gemockt</a:t>
            </a:r>
            <a:r>
              <a:rPr lang="de-DE" sz="2400" b="0" i="0" u="none" strike="noStrike" dirty="0">
                <a:effectLst/>
              </a:rPr>
              <a:t> und mit Unit-Tests getestet, um zu überprüfen, wie die zwei Komponenten miteinander agieren.</a:t>
            </a:r>
            <a:endParaRPr lang="de-DE" sz="3200" b="0" i="0" u="none" strike="noStrike" dirty="0">
              <a:effectLst/>
            </a:endParaRPr>
          </a:p>
        </p:txBody>
      </p:sp>
      <p:pic>
        <p:nvPicPr>
          <p:cNvPr id="5" name="Рисунок 4">
            <a:extLst>
              <a:ext uri="{FF2B5EF4-FFF2-40B4-BE49-F238E27FC236}">
                <a16:creationId xmlns:a16="http://schemas.microsoft.com/office/drawing/2014/main" id="{9A03F764-0D23-CB1E-0510-8A7B80950011}"/>
              </a:ext>
            </a:extLst>
          </p:cNvPr>
          <p:cNvPicPr>
            <a:picLocks noChangeAspect="1"/>
          </p:cNvPicPr>
          <p:nvPr/>
        </p:nvPicPr>
        <p:blipFill>
          <a:blip r:embed="rId2"/>
          <a:stretch>
            <a:fillRect/>
          </a:stretch>
        </p:blipFill>
        <p:spPr>
          <a:xfrm>
            <a:off x="1963964" y="3429000"/>
            <a:ext cx="5315495" cy="1865086"/>
          </a:xfrm>
          <a:prstGeom prst="rect">
            <a:avLst/>
          </a:prstGeom>
        </p:spPr>
      </p:pic>
    </p:spTree>
    <p:extLst>
      <p:ext uri="{BB962C8B-B14F-4D97-AF65-F5344CB8AC3E}">
        <p14:creationId xmlns:p14="http://schemas.microsoft.com/office/powerpoint/2010/main" val="743197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2">
            <a:extLst>
              <a:ext uri="{FF2B5EF4-FFF2-40B4-BE49-F238E27FC236}">
                <a16:creationId xmlns:a16="http://schemas.microsoft.com/office/drawing/2014/main" id="{2E57E255-5FCF-2FE2-1B30-E6E5C0520807}"/>
              </a:ext>
            </a:extLst>
          </p:cNvPr>
          <p:cNvSpPr txBox="1">
            <a:spLocks/>
          </p:cNvSpPr>
          <p:nvPr/>
        </p:nvSpPr>
        <p:spPr>
          <a:xfrm>
            <a:off x="1143000" y="322492"/>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err="1"/>
              <a:t>Testsverfahren</a:t>
            </a:r>
            <a:endParaRPr lang="ru-KZ" sz="4400" dirty="0"/>
          </a:p>
        </p:txBody>
      </p:sp>
      <p:sp>
        <p:nvSpPr>
          <p:cNvPr id="3" name="TextBox 2">
            <a:extLst>
              <a:ext uri="{FF2B5EF4-FFF2-40B4-BE49-F238E27FC236}">
                <a16:creationId xmlns:a16="http://schemas.microsoft.com/office/drawing/2014/main" id="{373CF63A-3F6B-042B-78FE-C14FFA76FA0F}"/>
              </a:ext>
            </a:extLst>
          </p:cNvPr>
          <p:cNvSpPr txBox="1"/>
          <p:nvPr/>
        </p:nvSpPr>
        <p:spPr>
          <a:xfrm>
            <a:off x="1143000" y="1179062"/>
            <a:ext cx="8617856" cy="2000548"/>
          </a:xfrm>
          <a:prstGeom prst="rect">
            <a:avLst/>
          </a:prstGeom>
          <a:noFill/>
        </p:spPr>
        <p:txBody>
          <a:bodyPr wrap="square">
            <a:spAutoFit/>
          </a:bodyPr>
          <a:lstStyle/>
          <a:p>
            <a:r>
              <a:rPr lang="de-DE" sz="2800" dirty="0" err="1"/>
              <a:t>WanderwegModel</a:t>
            </a:r>
            <a:r>
              <a:rPr lang="de-DE" sz="2800" b="0" i="0" u="none" strike="noStrike" dirty="0">
                <a:effectLst/>
              </a:rPr>
              <a:t> </a:t>
            </a:r>
          </a:p>
          <a:p>
            <a:pPr marL="800100" lvl="1" indent="-342900">
              <a:buFont typeface="Arial" panose="020B0604020202020204" pitchFamily="34" charset="0"/>
              <a:buChar char="•"/>
            </a:pPr>
            <a:r>
              <a:rPr lang="de-DE" sz="1800" b="0" i="0" u="none" strike="noStrike" dirty="0">
                <a:effectLst/>
              </a:rPr>
              <a:t> </a:t>
            </a:r>
            <a:r>
              <a:rPr lang="de-DE" sz="2400" b="0" i="0" u="none" strike="noStrike" dirty="0">
                <a:effectLst/>
              </a:rPr>
              <a:t>Für den meisten Testfällen werden </a:t>
            </a:r>
            <a:r>
              <a:rPr lang="de-DE" sz="2400" b="0" i="0" u="none" strike="noStrike" dirty="0" err="1">
                <a:effectLst/>
              </a:rPr>
              <a:t>AppDataBase</a:t>
            </a:r>
            <a:r>
              <a:rPr lang="de-DE" sz="2400" b="0" i="0" u="none" strike="noStrike" dirty="0">
                <a:effectLst/>
              </a:rPr>
              <a:t> und verschiedene Dao-Interfaces </a:t>
            </a:r>
            <a:r>
              <a:rPr lang="de-DE" sz="2400" b="0" i="0" u="none" strike="noStrike" dirty="0" err="1">
                <a:effectLst/>
              </a:rPr>
              <a:t>gemockt</a:t>
            </a:r>
            <a:r>
              <a:rPr lang="de-DE" sz="2400" b="0" i="0" u="none" strike="noStrike" dirty="0">
                <a:effectLst/>
              </a:rPr>
              <a:t> und mit Unit-Tests getestet, um zu überprüfen, wie die zwei Komponenten(Model und Speicher)  miteinander agieren.</a:t>
            </a:r>
            <a:endParaRPr lang="de-DE" sz="3200" b="0" i="0" u="none" strike="noStrike" dirty="0">
              <a:effectLst/>
            </a:endParaRPr>
          </a:p>
        </p:txBody>
      </p:sp>
      <p:pic>
        <p:nvPicPr>
          <p:cNvPr id="5" name="Рисунок 4">
            <a:extLst>
              <a:ext uri="{FF2B5EF4-FFF2-40B4-BE49-F238E27FC236}">
                <a16:creationId xmlns:a16="http://schemas.microsoft.com/office/drawing/2014/main" id="{7A9990BD-4535-4D01-C35B-5BEA1195B356}"/>
              </a:ext>
            </a:extLst>
          </p:cNvPr>
          <p:cNvPicPr>
            <a:picLocks noChangeAspect="1"/>
          </p:cNvPicPr>
          <p:nvPr/>
        </p:nvPicPr>
        <p:blipFill>
          <a:blip r:embed="rId2"/>
          <a:stretch>
            <a:fillRect/>
          </a:stretch>
        </p:blipFill>
        <p:spPr>
          <a:xfrm>
            <a:off x="2072821" y="3429000"/>
            <a:ext cx="4424941" cy="2000548"/>
          </a:xfrm>
          <a:prstGeom prst="rect">
            <a:avLst/>
          </a:prstGeom>
        </p:spPr>
      </p:pic>
    </p:spTree>
    <p:extLst>
      <p:ext uri="{BB962C8B-B14F-4D97-AF65-F5344CB8AC3E}">
        <p14:creationId xmlns:p14="http://schemas.microsoft.com/office/powerpoint/2010/main" val="3037222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2">
            <a:extLst>
              <a:ext uri="{FF2B5EF4-FFF2-40B4-BE49-F238E27FC236}">
                <a16:creationId xmlns:a16="http://schemas.microsoft.com/office/drawing/2014/main" id="{BC0DCB52-7D18-99D6-9C4C-0A7135FB085C}"/>
              </a:ext>
            </a:extLst>
          </p:cNvPr>
          <p:cNvSpPr txBox="1">
            <a:spLocks/>
          </p:cNvSpPr>
          <p:nvPr/>
        </p:nvSpPr>
        <p:spPr>
          <a:xfrm>
            <a:off x="1143000" y="322492"/>
            <a:ext cx="9905999" cy="85657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de-DE" sz="4400" dirty="0"/>
              <a:t>End-</a:t>
            </a:r>
            <a:r>
              <a:rPr lang="de-DE" sz="4400" dirty="0" err="1"/>
              <a:t>To</a:t>
            </a:r>
            <a:r>
              <a:rPr lang="de-DE" sz="4400" dirty="0"/>
              <a:t>-End Tests</a:t>
            </a:r>
            <a:endParaRPr lang="ru-KZ" sz="4400" dirty="0"/>
          </a:p>
        </p:txBody>
      </p:sp>
      <p:pic>
        <p:nvPicPr>
          <p:cNvPr id="6" name="Рисунок 5">
            <a:extLst>
              <a:ext uri="{FF2B5EF4-FFF2-40B4-BE49-F238E27FC236}">
                <a16:creationId xmlns:a16="http://schemas.microsoft.com/office/drawing/2014/main" id="{8A71EC83-683D-842C-6F32-1BA38BDE5E44}"/>
              </a:ext>
            </a:extLst>
          </p:cNvPr>
          <p:cNvPicPr>
            <a:picLocks noChangeAspect="1"/>
          </p:cNvPicPr>
          <p:nvPr/>
        </p:nvPicPr>
        <p:blipFill>
          <a:blip r:embed="rId2"/>
          <a:stretch>
            <a:fillRect/>
          </a:stretch>
        </p:blipFill>
        <p:spPr>
          <a:xfrm>
            <a:off x="1270000" y="3664856"/>
            <a:ext cx="3302000" cy="1066800"/>
          </a:xfrm>
          <a:prstGeom prst="rect">
            <a:avLst/>
          </a:prstGeom>
        </p:spPr>
      </p:pic>
      <p:sp>
        <p:nvSpPr>
          <p:cNvPr id="8" name="TextBox 7">
            <a:extLst>
              <a:ext uri="{FF2B5EF4-FFF2-40B4-BE49-F238E27FC236}">
                <a16:creationId xmlns:a16="http://schemas.microsoft.com/office/drawing/2014/main" id="{B0AFF559-C5EA-9D19-3F63-975FB228C2CE}"/>
              </a:ext>
            </a:extLst>
          </p:cNvPr>
          <p:cNvSpPr txBox="1"/>
          <p:nvPr/>
        </p:nvSpPr>
        <p:spPr>
          <a:xfrm>
            <a:off x="1143000" y="1613118"/>
            <a:ext cx="6103256" cy="1815882"/>
          </a:xfrm>
          <a:prstGeom prst="rect">
            <a:avLst/>
          </a:prstGeom>
          <a:noFill/>
        </p:spPr>
        <p:txBody>
          <a:bodyPr wrap="square">
            <a:spAutoFit/>
          </a:bodyPr>
          <a:lstStyle/>
          <a:p>
            <a:r>
              <a:rPr lang="de-DE" sz="2800" dirty="0"/>
              <a:t>In der Dokumentation gibt es tatsächlich 4 Use Cases, die zweite aber lässt sich nicht testen, das wurde nur nach dem automatisiertem Testen bekannt </a:t>
            </a:r>
            <a:endParaRPr lang="de-DE" sz="3200" b="0" i="0" u="none" strike="noStrike" dirty="0">
              <a:effectLst/>
            </a:endParaRPr>
          </a:p>
        </p:txBody>
      </p:sp>
    </p:spTree>
    <p:extLst>
      <p:ext uri="{BB962C8B-B14F-4D97-AF65-F5344CB8AC3E}">
        <p14:creationId xmlns:p14="http://schemas.microsoft.com/office/powerpoint/2010/main" val="2384410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F7EDC9-4447-2E2C-CF53-37B40F3EE45B}"/>
              </a:ext>
            </a:extLst>
          </p:cNvPr>
          <p:cNvSpPr>
            <a:spLocks noGrp="1"/>
          </p:cNvSpPr>
          <p:nvPr>
            <p:ph type="title"/>
          </p:nvPr>
        </p:nvSpPr>
        <p:spPr>
          <a:xfrm>
            <a:off x="2158206" y="2689715"/>
            <a:ext cx="7875587" cy="1478570"/>
          </a:xfrm>
        </p:spPr>
        <p:txBody>
          <a:bodyPr/>
          <a:lstStyle/>
          <a:p>
            <a:r>
              <a:rPr lang="de-DE" dirty="0"/>
              <a:t>Vielen dank für die Aufmerksamkeit!</a:t>
            </a:r>
            <a:endParaRPr lang="ru-KZ" dirty="0"/>
          </a:p>
        </p:txBody>
      </p:sp>
    </p:spTree>
    <p:extLst>
      <p:ext uri="{BB962C8B-B14F-4D97-AF65-F5344CB8AC3E}">
        <p14:creationId xmlns:p14="http://schemas.microsoft.com/office/powerpoint/2010/main" val="20583913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Контур">
  <a:themeElements>
    <a:clrScheme name="Контур">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Контур">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Контур">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{BFA821AA-0B58-3541-92BC-94ACB9AD5AC6}tf10001122</Template>
  <TotalTime>255</TotalTime>
  <Words>389</Words>
  <Application>Microsoft Macintosh PowerPoint</Application>
  <PresentationFormat>Широкоэкранный</PresentationFormat>
  <Paragraphs>40</Paragraphs>
  <Slides>16</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Arial</vt:lpstr>
      <vt:lpstr>Calibri</vt:lpstr>
      <vt:lpstr>Tw Cen MT</vt:lpstr>
      <vt:lpstr>Контур</vt:lpstr>
      <vt:lpstr>Wanderwege</vt:lpstr>
      <vt:lpstr>Beschreibung</vt:lpstr>
      <vt:lpstr>KOmponentenDiagramm</vt:lpstr>
      <vt:lpstr>GUI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Vielen dank für die Aufmerksamkeit!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Wanderwege</dc:title>
  <dc:creator>Anelya Ibragim</dc:creator>
  <cp:lastModifiedBy>Anelya Ibragim</cp:lastModifiedBy>
  <cp:revision>2</cp:revision>
  <dcterms:created xsi:type="dcterms:W3CDTF">2024-01-15T01:21:02Z</dcterms:created>
  <dcterms:modified xsi:type="dcterms:W3CDTF">2024-01-16T12:40:56Z</dcterms:modified>
</cp:coreProperties>
</file>